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文本占位符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文本占位符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图片占位符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标题 1"/>
          <p:cNvSpPr txBox="1"/>
          <p:nvPr>
            <p:ph type="ctrTitle"/>
          </p:nvPr>
        </p:nvSpPr>
        <p:spPr>
          <a:xfrm>
            <a:off x="-1705638" y="-1060588"/>
            <a:ext cx="11600120" cy="23876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/>
            <a:r>
              <a:t>From Dafny to RTL</a:t>
            </a:r>
          </a:p>
        </p:txBody>
      </p:sp>
      <p:grpSp>
        <p:nvGrpSpPr>
          <p:cNvPr id="97" name="矩形: 圆角 3"/>
          <p:cNvGrpSpPr/>
          <p:nvPr/>
        </p:nvGrpSpPr>
        <p:grpSpPr>
          <a:xfrm>
            <a:off x="435049" y="1600197"/>
            <a:ext cx="3100279" cy="2092216"/>
            <a:chOff x="0" y="0"/>
            <a:chExt cx="3100277" cy="2092214"/>
          </a:xfrm>
        </p:grpSpPr>
        <p:sp>
          <p:nvSpPr>
            <p:cNvPr id="95" name="Rounded Rectangle"/>
            <p:cNvSpPr/>
            <p:nvPr/>
          </p:nvSpPr>
          <p:spPr>
            <a:xfrm>
              <a:off x="0" y="0"/>
              <a:ext cx="3100278" cy="2092215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6350" cap="flat">
              <a:solidFill>
                <a:srgbClr val="9DC3E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400"/>
              </a:pPr>
            </a:p>
          </p:txBody>
        </p:sp>
        <p:sp>
          <p:nvSpPr>
            <p:cNvPr id="96" name="Dafny…"/>
            <p:cNvSpPr txBox="1"/>
            <p:nvPr/>
          </p:nvSpPr>
          <p:spPr>
            <a:xfrm>
              <a:off x="151027" y="390786"/>
              <a:ext cx="2798223" cy="1310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3200"/>
              </a:pPr>
              <a:r>
                <a:t>Dafny</a:t>
              </a:r>
            </a:p>
            <a:p>
              <a:pPr algn="ctr">
                <a:defRPr sz="2400"/>
              </a:pPr>
              <a:r>
                <a:t>requires/ensures verified</a:t>
              </a:r>
            </a:p>
          </p:txBody>
        </p:sp>
      </p:grpSp>
      <p:grpSp>
        <p:nvGrpSpPr>
          <p:cNvPr id="100" name="矩形: 圆角 4"/>
          <p:cNvGrpSpPr/>
          <p:nvPr/>
        </p:nvGrpSpPr>
        <p:grpSpPr>
          <a:xfrm>
            <a:off x="8385548" y="4493454"/>
            <a:ext cx="3203939" cy="2092215"/>
            <a:chOff x="0" y="0"/>
            <a:chExt cx="3203937" cy="2092214"/>
          </a:xfrm>
        </p:grpSpPr>
        <p:sp>
          <p:nvSpPr>
            <p:cNvPr id="98" name="Rounded Rectangle"/>
            <p:cNvSpPr/>
            <p:nvPr/>
          </p:nvSpPr>
          <p:spPr>
            <a:xfrm>
              <a:off x="0" y="0"/>
              <a:ext cx="3203938" cy="2092215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400"/>
              </a:pPr>
            </a:p>
          </p:txBody>
        </p:sp>
        <p:sp>
          <p:nvSpPr>
            <p:cNvPr id="99" name="Vitis HLS…"/>
            <p:cNvSpPr txBox="1"/>
            <p:nvPr/>
          </p:nvSpPr>
          <p:spPr>
            <a:xfrm>
              <a:off x="151027" y="390786"/>
              <a:ext cx="2901884" cy="1310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3200"/>
              </a:pPr>
              <a:r>
                <a:t>Vitis HLS</a:t>
              </a:r>
            </a:p>
            <a:p>
              <a:pPr algn="ctr">
                <a:defRPr sz="2400"/>
              </a:pPr>
              <a:r>
                <a:t>C synthesis → reports</a:t>
              </a:r>
            </a:p>
          </p:txBody>
        </p:sp>
      </p:grpSp>
      <p:grpSp>
        <p:nvGrpSpPr>
          <p:cNvPr id="103" name="矩形: 圆角 5"/>
          <p:cNvGrpSpPr/>
          <p:nvPr/>
        </p:nvGrpSpPr>
        <p:grpSpPr>
          <a:xfrm>
            <a:off x="8385547" y="1600197"/>
            <a:ext cx="3203940" cy="2092216"/>
            <a:chOff x="0" y="0"/>
            <a:chExt cx="3203938" cy="2092214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3203939" cy="2092215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400"/>
              </a:pPr>
            </a:p>
          </p:txBody>
        </p:sp>
        <p:sp>
          <p:nvSpPr>
            <p:cNvPr id="102" name="Refactor for HLS…"/>
            <p:cNvSpPr txBox="1"/>
            <p:nvPr/>
          </p:nvSpPr>
          <p:spPr>
            <a:xfrm>
              <a:off x="151027" y="16136"/>
              <a:ext cx="2901885" cy="2059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800"/>
              </a:pPr>
              <a:r>
                <a:t>Refactor for HLS</a:t>
              </a:r>
            </a:p>
            <a:p>
              <a:pPr algn="ctr">
                <a:defRPr sz="2400"/>
              </a:pPr>
              <a:r>
                <a:t>fixed-size types + remove runtime functions</a:t>
              </a:r>
            </a:p>
          </p:txBody>
        </p:sp>
      </p:grpSp>
      <p:grpSp>
        <p:nvGrpSpPr>
          <p:cNvPr id="106" name="矩形: 圆角 6"/>
          <p:cNvGrpSpPr/>
          <p:nvPr/>
        </p:nvGrpSpPr>
        <p:grpSpPr>
          <a:xfrm>
            <a:off x="4368212" y="1600199"/>
            <a:ext cx="3203939" cy="2092215"/>
            <a:chOff x="0" y="0"/>
            <a:chExt cx="3203937" cy="2092214"/>
          </a:xfrm>
        </p:grpSpPr>
        <p:sp>
          <p:nvSpPr>
            <p:cNvPr id="104" name="Rounded Rectangle"/>
            <p:cNvSpPr/>
            <p:nvPr/>
          </p:nvSpPr>
          <p:spPr>
            <a:xfrm>
              <a:off x="0" y="0"/>
              <a:ext cx="3203938" cy="2092215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400"/>
              </a:pPr>
            </a:p>
          </p:txBody>
        </p:sp>
        <p:sp>
          <p:nvSpPr>
            <p:cNvPr id="105" name="Dafny → C++…"/>
            <p:cNvSpPr txBox="1"/>
            <p:nvPr/>
          </p:nvSpPr>
          <p:spPr>
            <a:xfrm>
              <a:off x="151027" y="571067"/>
              <a:ext cx="2901884" cy="9500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3200"/>
              </a:pPr>
              <a:r>
                <a:t>Dafny → C++</a:t>
              </a:r>
            </a:p>
            <a:p>
              <a:pPr algn="ctr">
                <a:defRPr sz="2400"/>
              </a:pPr>
              <a:r>
                <a:t>top.cpp + runtime</a:t>
              </a:r>
            </a:p>
          </p:txBody>
        </p:sp>
      </p:grpSp>
      <p:grpSp>
        <p:nvGrpSpPr>
          <p:cNvPr id="109" name="矩形: 圆角 7"/>
          <p:cNvGrpSpPr/>
          <p:nvPr/>
        </p:nvGrpSpPr>
        <p:grpSpPr>
          <a:xfrm>
            <a:off x="4432901" y="4493452"/>
            <a:ext cx="3203939" cy="2092216"/>
            <a:chOff x="0" y="0"/>
            <a:chExt cx="3203937" cy="2092214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3203938" cy="2092215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400"/>
              </a:pPr>
            </a:p>
          </p:txBody>
        </p:sp>
        <p:sp>
          <p:nvSpPr>
            <p:cNvPr id="108" name="Verilog RTL…"/>
            <p:cNvSpPr txBox="1"/>
            <p:nvPr/>
          </p:nvSpPr>
          <p:spPr>
            <a:xfrm>
              <a:off x="151027" y="390786"/>
              <a:ext cx="2901884" cy="1310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3200"/>
              </a:pPr>
              <a:r>
                <a:t>Verilog RTL</a:t>
              </a:r>
            </a:p>
            <a:p>
              <a:pPr algn="ctr">
                <a:defRPr sz="2400"/>
              </a:pPr>
              <a:r>
                <a:t>FSM + MUX + comparator logic</a:t>
              </a:r>
            </a:p>
          </p:txBody>
        </p:sp>
      </p:grpSp>
      <p:sp>
        <p:nvSpPr>
          <p:cNvPr id="110" name="箭头: 右 8"/>
          <p:cNvSpPr/>
          <p:nvPr/>
        </p:nvSpPr>
        <p:spPr>
          <a:xfrm>
            <a:off x="3660275" y="2466752"/>
            <a:ext cx="580359" cy="42530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箭头: 右 9"/>
          <p:cNvSpPr/>
          <p:nvPr/>
        </p:nvSpPr>
        <p:spPr>
          <a:xfrm>
            <a:off x="7685138" y="2466752"/>
            <a:ext cx="584791" cy="42530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箭头: 下 10"/>
          <p:cNvSpPr/>
          <p:nvPr/>
        </p:nvSpPr>
        <p:spPr>
          <a:xfrm>
            <a:off x="9738539" y="3800661"/>
            <a:ext cx="497954" cy="581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358"/>
                </a:moveTo>
                <a:lnTo>
                  <a:pt x="5400" y="12358"/>
                </a:lnTo>
                <a:lnTo>
                  <a:pt x="5400" y="0"/>
                </a:lnTo>
                <a:lnTo>
                  <a:pt x="16200" y="0"/>
                </a:lnTo>
                <a:lnTo>
                  <a:pt x="16200" y="12358"/>
                </a:lnTo>
                <a:lnTo>
                  <a:pt x="21600" y="12358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箭头: 右 11"/>
          <p:cNvSpPr/>
          <p:nvPr/>
        </p:nvSpPr>
        <p:spPr>
          <a:xfrm rot="10800000">
            <a:off x="7720114" y="5101383"/>
            <a:ext cx="584791" cy="42530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xfrm>
            <a:off x="434407" y="370631"/>
            <a:ext cx="10274718" cy="1325563"/>
          </a:xfrm>
          <a:prstGeom prst="rect">
            <a:avLst/>
          </a:prstGeom>
        </p:spPr>
        <p:txBody>
          <a:bodyPr/>
          <a:lstStyle>
            <a:lvl1pPr>
              <a:defRPr b="1" sz="6000"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/>
            <a:r>
              <a:t>Abstraction to Hardware</a:t>
            </a:r>
          </a:p>
        </p:txBody>
      </p:sp>
      <p:pic>
        <p:nvPicPr>
          <p:cNvPr id="11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1135" b="2233"/>
          <a:stretch>
            <a:fillRect/>
          </a:stretch>
        </p:blipFill>
        <p:spPr>
          <a:xfrm>
            <a:off x="434407" y="1823420"/>
            <a:ext cx="5364708" cy="36010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0" t="0" r="5352" b="0"/>
          <a:stretch>
            <a:fillRect/>
          </a:stretch>
        </p:blipFill>
        <p:spPr>
          <a:xfrm>
            <a:off x="6632667" y="1823420"/>
            <a:ext cx="5364707" cy="3138128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Arrow: Right 7"/>
          <p:cNvSpPr/>
          <p:nvPr/>
        </p:nvSpPr>
        <p:spPr>
          <a:xfrm>
            <a:off x="5872248" y="3081034"/>
            <a:ext cx="687285" cy="54292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 txBox="1"/>
          <p:nvPr>
            <p:ph type="title"/>
          </p:nvPr>
        </p:nvSpPr>
        <p:spPr>
          <a:xfrm>
            <a:off x="538868" y="19742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b="1" sz="6000"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/>
            <a:r>
              <a:t>HLS Synthesis Results</a:t>
            </a:r>
          </a:p>
        </p:txBody>
      </p:sp>
      <p:graphicFrame>
        <p:nvGraphicFramePr>
          <p:cNvPr id="121" name="表格 6"/>
          <p:cNvGraphicFramePr/>
          <p:nvPr/>
        </p:nvGraphicFramePr>
        <p:xfrm>
          <a:off x="905897" y="1931255"/>
          <a:ext cx="4862224" cy="469199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424761"/>
                <a:gridCol w="2424761"/>
              </a:tblGrid>
              <a:tr h="43071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/>
                        <a:t>Metric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/>
                        <a:t>Value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Latency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9 cycles (90 ns)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Interval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10 cycles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Slack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3.02 ns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LUT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185 (2%)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FF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109 (~0%)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DSP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900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BRAM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122" name="Table 2"/>
          <p:cNvGraphicFramePr/>
          <p:nvPr/>
        </p:nvGraphicFramePr>
        <p:xfrm>
          <a:off x="6676914" y="1924905"/>
          <a:ext cx="4874923" cy="470469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431111"/>
                <a:gridCol w="2431111"/>
              </a:tblGrid>
              <a:tr h="58649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/>
                        <a:t>Metric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/>
                        <a:t>Value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Latency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1 cycles (10ns)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Interval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2 cycles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Slack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2.70 ns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LUT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585 (7.3%)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FF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286 (1.8%)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DSP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0" marR="0" marT="0" marB="0" anchor="t" anchorCtr="0" horzOverflow="overflow"/>
                </a:tc>
              </a:tr>
              <a:tr h="58649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BRAM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sp>
        <p:nvSpPr>
          <p:cNvPr id="123" name="Normal:"/>
          <p:cNvSpPr/>
          <p:nvPr/>
        </p:nvSpPr>
        <p:spPr>
          <a:xfrm>
            <a:off x="889000" y="1041400"/>
            <a:ext cx="1768327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 b="1" sz="2800"/>
            </a:lvl1pPr>
          </a:lstStyle>
          <a:p>
            <a:pPr/>
            <a:r>
              <a:t>Normal:</a:t>
            </a:r>
          </a:p>
        </p:txBody>
      </p:sp>
      <p:sp>
        <p:nvSpPr>
          <p:cNvPr id="124" name="UNROLL:"/>
          <p:cNvSpPr/>
          <p:nvPr/>
        </p:nvSpPr>
        <p:spPr>
          <a:xfrm>
            <a:off x="6705600" y="1041400"/>
            <a:ext cx="1755627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 b="1" sz="2700"/>
            </a:lvl1pPr>
          </a:lstStyle>
          <a:p>
            <a:pPr/>
            <a:r>
              <a:t>UNROLL: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 1"/>
          <p:cNvSpPr txBox="1"/>
          <p:nvPr>
            <p:ph type="title"/>
          </p:nvPr>
        </p:nvSpPr>
        <p:spPr>
          <a:xfrm>
            <a:off x="417401" y="398754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 b="1" sz="6000"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/>
            <a:r>
              <a:t>RTL Analysis</a:t>
            </a:r>
          </a:p>
        </p:txBody>
      </p:sp>
      <p:pic>
        <p:nvPicPr>
          <p:cNvPr id="127" name="内容占位符 6" descr="内容占位符 6"/>
          <p:cNvPicPr>
            <a:picLocks noChangeAspect="1"/>
          </p:cNvPicPr>
          <p:nvPr/>
        </p:nvPicPr>
        <p:blipFill>
          <a:blip r:embed="rId2">
            <a:extLst/>
          </a:blip>
          <a:srcRect l="0" t="0" r="5931" b="0"/>
          <a:stretch>
            <a:fillRect/>
          </a:stretch>
        </p:blipFill>
        <p:spPr>
          <a:xfrm>
            <a:off x="417402" y="2016183"/>
            <a:ext cx="3480671" cy="295162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矩形: 圆角 7"/>
          <p:cNvSpPr txBox="1"/>
          <p:nvPr/>
        </p:nvSpPr>
        <p:spPr>
          <a:xfrm>
            <a:off x="4006138" y="2111223"/>
            <a:ext cx="2799979" cy="420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b="1" sz="2800"/>
            </a:pPr>
          </a:p>
          <a:p>
            <a:pPr marL="285750" indent="-285750">
              <a:buSzPct val="100000"/>
              <a:buFont typeface="Arial"/>
              <a:buChar char="•"/>
              <a:defRPr b="1" sz="2400"/>
            </a:pPr>
            <a:r>
              <a:t>ap_start: </a:t>
            </a:r>
            <a:r>
              <a:rPr b="0"/>
              <a:t>trigger one transaction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b="1" sz="2400"/>
            </a:pPr>
            <a:r>
              <a:t>ap_done: </a:t>
            </a:r>
            <a:r>
              <a:rPr b="0"/>
              <a:t>asserts when complete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b="1" sz="2400"/>
            </a:pPr>
            <a:r>
              <a:t>ap_idle: </a:t>
            </a:r>
            <a:r>
              <a:rPr b="0"/>
              <a:t>high when waiting start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b="1" sz="2400"/>
            </a:pPr>
            <a:r>
              <a:t>ap_ready: </a:t>
            </a:r>
            <a:r>
              <a:rPr b="0"/>
              <a:t>indicates readiness for next</a:t>
            </a:r>
          </a:p>
        </p:txBody>
      </p:sp>
      <p:sp>
        <p:nvSpPr>
          <p:cNvPr id="129" name="矩形: 圆角 8"/>
          <p:cNvSpPr txBox="1"/>
          <p:nvPr/>
        </p:nvSpPr>
        <p:spPr>
          <a:xfrm>
            <a:off x="3559428" y="1836494"/>
            <a:ext cx="4051306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3200"/>
            </a:pPr>
            <a:r>
              <a:t>Control Path</a:t>
            </a:r>
            <a:r>
              <a:rPr sz="3600"/>
              <a:t>：</a:t>
            </a:r>
          </a:p>
        </p:txBody>
      </p:sp>
      <p:grpSp>
        <p:nvGrpSpPr>
          <p:cNvPr id="132" name="矩形: 圆角 9"/>
          <p:cNvGrpSpPr/>
          <p:nvPr/>
        </p:nvGrpSpPr>
        <p:grpSpPr>
          <a:xfrm>
            <a:off x="382047" y="5251129"/>
            <a:ext cx="3480672" cy="729163"/>
            <a:chOff x="0" y="0"/>
            <a:chExt cx="3480670" cy="729161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3480671" cy="72916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2 Small State Machine"/>
            <p:cNvSpPr txBox="1"/>
            <p:nvPr/>
          </p:nvSpPr>
          <p:spPr>
            <a:xfrm>
              <a:off x="87665" y="153760"/>
              <a:ext cx="3305341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 Small State Machine </a:t>
              </a:r>
            </a:p>
          </p:txBody>
        </p:sp>
      </p:grpSp>
      <p:pic>
        <p:nvPicPr>
          <p:cNvPr id="133" name="图片 13" descr="图片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9451" y="1975500"/>
            <a:ext cx="3283551" cy="2283095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矩形: 圆角 14"/>
          <p:cNvSpPr txBox="1"/>
          <p:nvPr/>
        </p:nvSpPr>
        <p:spPr>
          <a:xfrm>
            <a:off x="6949536" y="4185489"/>
            <a:ext cx="5096350" cy="156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b="1" sz="2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setlt</a:t>
            </a:r>
            <a:r>
              <a:rPr b="0"/>
              <a:t> </a:t>
            </a:r>
            <a:r>
              <a:rPr b="0">
                <a:latin typeface="+mn-lt"/>
                <a:ea typeface="+mn-ea"/>
                <a:cs typeface="+mn-cs"/>
                <a:sym typeface="等线"/>
              </a:rPr>
              <a:t>→ comparator (max &lt; v)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b="1" sz="2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select</a:t>
            </a:r>
            <a:r>
              <a:rPr>
                <a:latin typeface="+mn-lt"/>
                <a:ea typeface="+mn-ea"/>
                <a:cs typeface="+mn-cs"/>
                <a:sym typeface="等线"/>
              </a:rPr>
              <a:t> </a:t>
            </a:r>
            <a:r>
              <a:rPr b="0">
                <a:latin typeface="+mn-lt"/>
                <a:ea typeface="+mn-ea"/>
                <a:cs typeface="+mn-cs"/>
                <a:sym typeface="等线"/>
              </a:rPr>
              <a:t>→ mux (choose larger value)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b="1" sz="2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add</a:t>
            </a:r>
            <a:r>
              <a:rPr b="0"/>
              <a:t> </a:t>
            </a:r>
            <a:r>
              <a:rPr b="0">
                <a:latin typeface="+mn-lt"/>
                <a:ea typeface="+mn-ea"/>
                <a:cs typeface="+mn-cs"/>
                <a:sym typeface="等线"/>
              </a:rPr>
              <a:t>→ loop counter increment</a:t>
            </a:r>
          </a:p>
        </p:txBody>
      </p:sp>
      <p:grpSp>
        <p:nvGrpSpPr>
          <p:cNvPr id="137" name="矩形: 圆角 15"/>
          <p:cNvGrpSpPr/>
          <p:nvPr/>
        </p:nvGrpSpPr>
        <p:grpSpPr>
          <a:xfrm>
            <a:off x="7110064" y="5770879"/>
            <a:ext cx="4775293" cy="829985"/>
            <a:chOff x="0" y="0"/>
            <a:chExt cx="4775291" cy="829984"/>
          </a:xfrm>
        </p:grpSpPr>
        <p:sp>
          <p:nvSpPr>
            <p:cNvPr id="135" name="Rounded Rectangle"/>
            <p:cNvSpPr/>
            <p:nvPr/>
          </p:nvSpPr>
          <p:spPr>
            <a:xfrm>
              <a:off x="0" y="0"/>
              <a:ext cx="4775292" cy="82998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2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6" name="1 Comparator  1 Mux  1 Adder"/>
            <p:cNvSpPr txBox="1"/>
            <p:nvPr/>
          </p:nvSpPr>
          <p:spPr>
            <a:xfrm>
              <a:off x="92586" y="204172"/>
              <a:ext cx="4590120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2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 Comparator  1 Mux  1 Adder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: 圆角 3"/>
          <p:cNvSpPr txBox="1"/>
          <p:nvPr/>
        </p:nvSpPr>
        <p:spPr>
          <a:xfrm>
            <a:off x="387317" y="424871"/>
            <a:ext cx="92766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3600"/>
            </a:pPr>
            <a:r>
              <a:t>Sequential Compare-and-Update Logic</a:t>
            </a:r>
            <a:r>
              <a:t>：</a:t>
            </a:r>
          </a:p>
        </p:txBody>
      </p:sp>
      <p:sp>
        <p:nvSpPr>
          <p:cNvPr id="140" name="矩形: 圆角 4"/>
          <p:cNvSpPr txBox="1"/>
          <p:nvPr/>
        </p:nvSpPr>
        <p:spPr>
          <a:xfrm>
            <a:off x="223137" y="4676170"/>
            <a:ext cx="4082184" cy="24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400"/>
            </a:pPr>
            <a:r>
              <a:t>Single comparator reused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400"/>
            </a:pPr>
            <a:r>
              <a:t>Mux-based value selection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400"/>
            </a:pPr>
            <a:r>
              <a:t>Max stored in register</a:t>
            </a:r>
            <a:endParaRPr>
              <a:solidFill>
                <a:srgbClr val="FFFFFF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400"/>
            </a:pPr>
            <a:r>
              <a:t>Loop controlled by scheduler</a:t>
            </a:r>
            <a:endParaRPr>
              <a:solidFill>
                <a:srgbClr val="FFFFFF"/>
              </a:solidFill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矩形: 圆角 5"/>
          <p:cNvSpPr txBox="1"/>
          <p:nvPr/>
        </p:nvSpPr>
        <p:spPr>
          <a:xfrm>
            <a:off x="90875" y="1727090"/>
            <a:ext cx="356090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/>
            </a:lvl1pPr>
          </a:lstStyle>
          <a:p>
            <a:pPr/>
            <a:r>
              <a:t>Normal Version:</a:t>
            </a:r>
          </a:p>
        </p:txBody>
      </p:sp>
      <p:pic>
        <p:nvPicPr>
          <p:cNvPr id="142" name="图片 7" descr="图片 7"/>
          <p:cNvPicPr>
            <a:picLocks noChangeAspect="1"/>
          </p:cNvPicPr>
          <p:nvPr/>
        </p:nvPicPr>
        <p:blipFill>
          <a:blip r:embed="rId2">
            <a:extLst/>
          </a:blip>
          <a:srcRect l="0" t="0" r="1952" b="0"/>
          <a:stretch>
            <a:fillRect/>
          </a:stretch>
        </p:blipFill>
        <p:spPr>
          <a:xfrm>
            <a:off x="4803690" y="2417197"/>
            <a:ext cx="7120182" cy="2023606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矩形: 圆角 8"/>
          <p:cNvSpPr txBox="1"/>
          <p:nvPr/>
        </p:nvSpPr>
        <p:spPr>
          <a:xfrm>
            <a:off x="4758287" y="1574690"/>
            <a:ext cx="5897593" cy="828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“#pragma </a:t>
            </a:r>
            <a:r>
              <a:rPr>
                <a:solidFill>
                  <a:srgbClr val="000000"/>
                </a:solidFill>
              </a:rPr>
              <a:t>HLS UNROLL”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等线"/>
              </a:rPr>
              <a:t>Version: </a:t>
            </a:r>
            <a:r>
              <a:rPr b="0" sz="2000">
                <a:solidFill>
                  <a:srgbClr val="000000"/>
                </a:solidFill>
                <a:latin typeface="+mn-lt"/>
                <a:ea typeface="+mn-ea"/>
                <a:cs typeface="+mn-cs"/>
                <a:sym typeface="等线"/>
              </a:rPr>
              <a:t>(AI Recommend) </a:t>
            </a:r>
            <a:r>
              <a:rPr sz="200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144" name="图片 10" descr="图片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526" y="2301816"/>
            <a:ext cx="3676840" cy="2254367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Arrow: Left-Right 1"/>
          <p:cNvSpPr/>
          <p:nvPr/>
        </p:nvSpPr>
        <p:spPr>
          <a:xfrm>
            <a:off x="4101005" y="3271296"/>
            <a:ext cx="651045" cy="315407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8" name="Rectangle: Rounded Corners 2"/>
          <p:cNvGrpSpPr/>
          <p:nvPr/>
        </p:nvGrpSpPr>
        <p:grpSpPr>
          <a:xfrm>
            <a:off x="4868673" y="4717749"/>
            <a:ext cx="6990368" cy="1448836"/>
            <a:chOff x="0" y="0"/>
            <a:chExt cx="6990367" cy="1448834"/>
          </a:xfrm>
        </p:grpSpPr>
        <p:sp>
          <p:nvSpPr>
            <p:cNvPr id="146" name="Rounded Rectangle"/>
            <p:cNvSpPr/>
            <p:nvPr/>
          </p:nvSpPr>
          <p:spPr>
            <a:xfrm>
              <a:off x="0" y="52981"/>
              <a:ext cx="6990368" cy="13428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The absence of unrolling results in a time-multiplexed datapath rather than a spatially expanded comparator network."/>
            <p:cNvSpPr txBox="1"/>
            <p:nvPr/>
          </p:nvSpPr>
          <p:spPr>
            <a:xfrm>
              <a:off x="116674" y="0"/>
              <a:ext cx="6757020" cy="14488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The absence of unrolling results in a time-multiplexed datapath rather than a spatially expanded comparator network.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