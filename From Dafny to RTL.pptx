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55587D-6655-5601-D530-20D920E695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9874E8F-3CF1-A5B2-1853-940807412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208CB93-0978-2885-2871-32856CCD5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B0C870-BA2E-1500-0A42-74C0DF75C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77DB6E-377E-6BE3-E822-5703CD27B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7815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F1E37B-2371-A2D9-BF66-1BCB9AF21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98C131-FC0C-0BB1-9959-19067CAC7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419FCD-3338-8BE5-F73D-E0FBD8BE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F0C02E-165F-B3B8-6BCE-149C1FBA7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ADEF46-E44C-B109-7AF4-23B9AA9B2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2116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AE37A-6256-A005-1864-BE90C6C5B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2BAD25B-F2CF-F2B8-0489-BA4B19396B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C3FE2B-FA30-E4E1-A461-5949C2EB6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EDF3E7-767D-E640-E503-CEFC32697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05EB8F-2A4F-772F-FFDA-2DA8B1CE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348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58CF82-E245-F9FB-2F81-637F426C9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436D8B-BB3B-8CE2-09B1-1FE697321B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B621181-99C9-CE1B-584F-C59F2CCE62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979EA1F-153D-D279-88B0-9470CC95E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E60EC8-5025-D20B-9EF0-EA4FDF1BE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FF5B67-079D-165F-C590-4B2F03B8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8930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70133D-0438-12AC-387D-7B5F395F6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21B867-635D-2B21-46B4-38C5E1757E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43715B-F271-0738-774D-3311BC82C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641B260-3D86-C940-F5B1-69398E6F11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512D0FA-A5DD-ABF4-853E-65CD032F0F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A3C5392-FBB3-A72E-DF98-10177C8EA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67C7F10-6B53-F68F-0695-771AFAFAA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DDC6CA-D5C6-9183-2AB3-75BD84372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91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61A1B3-0F7E-46D4-FB5F-797D73395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8E96CC-88CD-95BA-7353-4E00A9CE0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1137D37-66A8-A125-00FE-2A583314A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00E186-0957-9F10-12A0-8F39F6CC8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3781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BB64F83-DDBE-985F-1399-0D185C250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6AE0DCB-8535-3858-14F3-C4EC86EE2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3FA1C7-FADB-8D95-9364-2E5F77E64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766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B21834-FBC4-E663-B070-43349722E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0D1BA-7788-48F1-4A41-381893A46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E385E6-1733-5C09-888D-3A24201A3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90ABE1F-3035-F174-1C5F-D41EF48C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1A1F9D-56BC-ED2B-52D8-C4D2E9DA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1BDD72-42EF-D197-C5B6-B2BE1B1EB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2617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B3931E-9A50-B799-19A0-813F30B8A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A08285-604F-101C-3F33-61F90B4C70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D22326D-97FE-EFC1-C69F-6DFD23E5A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EEAD48-C3B4-0741-92B9-A66946963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F1F4B0-8166-B10D-CC05-80EAA85B1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899604-655A-41C1-982A-FB93FE071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6287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353D0-D5B6-E8E4-68B1-E4EDF5D18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298BC47-155D-1277-4CB2-85A9242D3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0F55A9-E417-D936-F56D-DB8BAC3B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E747D76-21C3-6164-C057-74F8F811C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CC1BCE-2CC5-9DCF-C5B0-21510CAEA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6610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4DA64D5-D0A1-FABE-7E64-6878BFB23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58F305-48FC-7192-9A7E-12B6615D8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8BDDF4-8224-60BB-7B07-5816D0F62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0AADC5-914A-EC44-4959-E4D5DB3E6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204187-E0D6-2F33-D955-366E157C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0878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E5ADD95-82AD-0EB7-491D-B11007946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8445DEF-2B20-209A-E664-E6DB9597C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8568FA-CFBF-156E-BA95-7D5EA53835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DDB0FF-8569-43F8-957A-447CB432C78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E3825E-133E-D04D-BA49-B9FEB12D51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9C3EF8D-14A6-6954-B68B-97AC8B5636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7B8BCA-8B6B-4034-BCC7-F5AF003D17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7049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A93CDF-F1F4-D99F-BEFA-E8461B7B2C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705638" y="-1060588"/>
            <a:ext cx="11600120" cy="2387600"/>
          </a:xfrm>
        </p:spPr>
        <p:txBody>
          <a:bodyPr/>
          <a:lstStyle/>
          <a:p>
            <a:r>
              <a:rPr lang="en-US" altLang="zh-CN" b="1" dirty="0">
                <a:latin typeface="+mn-lt"/>
              </a:rPr>
              <a:t>From Dafny to RTL</a:t>
            </a:r>
            <a:endParaRPr lang="zh-CN" altLang="en-US" b="1" dirty="0">
              <a:latin typeface="+mn-lt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10406F-D504-4E0E-59AF-F55287412743}"/>
              </a:ext>
            </a:extLst>
          </p:cNvPr>
          <p:cNvSpPr/>
          <p:nvPr/>
        </p:nvSpPr>
        <p:spPr>
          <a:xfrm>
            <a:off x="435050" y="1600198"/>
            <a:ext cx="3100277" cy="209221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Dafny</a:t>
            </a:r>
          </a:p>
          <a:p>
            <a:pPr algn="ctr"/>
            <a:r>
              <a:rPr lang="en-US" altLang="zh-CN" sz="2400" dirty="0"/>
              <a:t>requires/ensures verified</a:t>
            </a:r>
            <a:endParaRPr lang="zh-CN" altLang="en-US" sz="2400" b="1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17EFDD0-1DD8-DD67-B102-239357D2E2D2}"/>
              </a:ext>
            </a:extLst>
          </p:cNvPr>
          <p:cNvSpPr/>
          <p:nvPr/>
        </p:nvSpPr>
        <p:spPr>
          <a:xfrm>
            <a:off x="8385549" y="4493454"/>
            <a:ext cx="3203938" cy="209221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Vitis HLS</a:t>
            </a:r>
          </a:p>
          <a:p>
            <a:pPr algn="ctr"/>
            <a:r>
              <a:rPr lang="en-US" altLang="zh-CN" sz="2400" dirty="0"/>
              <a:t>C synthesis → reports</a:t>
            </a:r>
            <a:endParaRPr lang="zh-CN" altLang="en-US" sz="2400" b="1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BB9D94B-D68B-5C72-4C74-409635B351EA}"/>
              </a:ext>
            </a:extLst>
          </p:cNvPr>
          <p:cNvSpPr/>
          <p:nvPr/>
        </p:nvSpPr>
        <p:spPr>
          <a:xfrm>
            <a:off x="8385548" y="1600198"/>
            <a:ext cx="3203939" cy="209221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800" b="1" dirty="0"/>
              <a:t>Refactor for HLS</a:t>
            </a:r>
          </a:p>
          <a:p>
            <a:r>
              <a:rPr lang="en-US" altLang="zh-CN" sz="2400" dirty="0"/>
              <a:t>fixed-size types + remove runtime deps</a:t>
            </a:r>
            <a:endParaRPr lang="zh-CN" altLang="en-US" sz="2400" b="1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FDBACC2-6A99-7323-86DD-AEB016925FC4}"/>
              </a:ext>
            </a:extLst>
          </p:cNvPr>
          <p:cNvSpPr/>
          <p:nvPr/>
        </p:nvSpPr>
        <p:spPr>
          <a:xfrm>
            <a:off x="4368212" y="1600199"/>
            <a:ext cx="3203938" cy="209221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Dafny → C++</a:t>
            </a:r>
          </a:p>
          <a:p>
            <a:pPr algn="ctr"/>
            <a:r>
              <a:rPr lang="en-US" altLang="zh-CN" sz="2400" dirty="0"/>
              <a:t>top.cpp + runtime</a:t>
            </a:r>
            <a:endParaRPr lang="zh-CN" altLang="en-US" sz="2400" b="1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503FCC7-3DE7-D92C-C1AF-2A1E1A4A2A39}"/>
              </a:ext>
            </a:extLst>
          </p:cNvPr>
          <p:cNvSpPr/>
          <p:nvPr/>
        </p:nvSpPr>
        <p:spPr>
          <a:xfrm>
            <a:off x="4432901" y="4493453"/>
            <a:ext cx="3203938" cy="209221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b="1" dirty="0"/>
              <a:t>Verilog RTL</a:t>
            </a:r>
          </a:p>
          <a:p>
            <a:pPr algn="ctr"/>
            <a:r>
              <a:rPr lang="en-US" altLang="zh-CN" sz="2400" dirty="0"/>
              <a:t>FSM + MUX + comparator logic</a:t>
            </a:r>
            <a:endParaRPr lang="zh-CN" altLang="en-US" sz="2400" b="1" dirty="0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EF9BF515-9036-D3A5-6C3A-1E726DC006A2}"/>
              </a:ext>
            </a:extLst>
          </p:cNvPr>
          <p:cNvSpPr/>
          <p:nvPr/>
        </p:nvSpPr>
        <p:spPr>
          <a:xfrm>
            <a:off x="3619503" y="2466753"/>
            <a:ext cx="580358" cy="4253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13096C79-5297-D4A7-1D8C-ACAA7E89F7F6}"/>
              </a:ext>
            </a:extLst>
          </p:cNvPr>
          <p:cNvSpPr/>
          <p:nvPr/>
        </p:nvSpPr>
        <p:spPr>
          <a:xfrm>
            <a:off x="7636839" y="2466753"/>
            <a:ext cx="584790" cy="4253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箭头: 下 10">
            <a:extLst>
              <a:ext uri="{FF2B5EF4-FFF2-40B4-BE49-F238E27FC236}">
                <a16:creationId xmlns:a16="http://schemas.microsoft.com/office/drawing/2014/main" id="{5F1A530E-9831-A4F3-5360-35F1B4E4C8DF}"/>
              </a:ext>
            </a:extLst>
          </p:cNvPr>
          <p:cNvSpPr/>
          <p:nvPr/>
        </p:nvSpPr>
        <p:spPr>
          <a:xfrm>
            <a:off x="9738540" y="3801978"/>
            <a:ext cx="497953" cy="5819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B88C822E-D83A-FA83-B736-8E0EA4639D29}"/>
              </a:ext>
            </a:extLst>
          </p:cNvPr>
          <p:cNvSpPr/>
          <p:nvPr/>
        </p:nvSpPr>
        <p:spPr>
          <a:xfrm rot="10800000">
            <a:off x="7710938" y="5114258"/>
            <a:ext cx="584790" cy="4253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7323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2DCD-31F9-4473-8A75-9884979F7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407" y="370631"/>
            <a:ext cx="10274718" cy="1325563"/>
          </a:xfrm>
        </p:spPr>
        <p:txBody>
          <a:bodyPr>
            <a:noAutofit/>
          </a:bodyPr>
          <a:lstStyle/>
          <a:p>
            <a:r>
              <a:rPr lang="en-GB" sz="6000" b="1" dirty="0">
                <a:latin typeface="+mn-lt"/>
              </a:rPr>
              <a:t>Abstraction to Hardware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7B59B6-4A1B-47CB-BC8D-2FB77DD1A0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135" b="2233"/>
          <a:stretch/>
        </p:blipFill>
        <p:spPr>
          <a:xfrm>
            <a:off x="434407" y="1823420"/>
            <a:ext cx="5364707" cy="36010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34294E-7AE9-42B6-967B-11E6D6F2BF2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353"/>
          <a:stretch/>
        </p:blipFill>
        <p:spPr>
          <a:xfrm>
            <a:off x="6632667" y="1823420"/>
            <a:ext cx="5364706" cy="3138127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F58F768B-2520-45CC-B97F-B67EDD8370DC}"/>
              </a:ext>
            </a:extLst>
          </p:cNvPr>
          <p:cNvSpPr/>
          <p:nvPr/>
        </p:nvSpPr>
        <p:spPr>
          <a:xfrm>
            <a:off x="5872248" y="3081035"/>
            <a:ext cx="687284" cy="5429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3846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B45851-01B9-DBF7-AFB6-6457AB21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6000" b="1" dirty="0">
                <a:latin typeface="+mn-lt"/>
              </a:rPr>
              <a:t>HLS Synthesis Results</a:t>
            </a:r>
            <a:endParaRPr lang="zh-CN" altLang="en-US" sz="6000" b="1" dirty="0">
              <a:latin typeface="+mn-lt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ABE64BE-8F29-F86C-8607-3978698F9E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145302"/>
              </p:ext>
            </p:extLst>
          </p:nvPr>
        </p:nvGraphicFramePr>
        <p:xfrm>
          <a:off x="1032538" y="1724026"/>
          <a:ext cx="6176336" cy="4648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8168">
                  <a:extLst>
                    <a:ext uri="{9D8B030D-6E8A-4147-A177-3AD203B41FA5}">
                      <a16:colId xmlns:a16="http://schemas.microsoft.com/office/drawing/2014/main" val="206165982"/>
                    </a:ext>
                  </a:extLst>
                </a:gridCol>
                <a:gridCol w="3088168">
                  <a:extLst>
                    <a:ext uri="{9D8B030D-6E8A-4147-A177-3AD203B41FA5}">
                      <a16:colId xmlns:a16="http://schemas.microsoft.com/office/drawing/2014/main" val="2996320499"/>
                    </a:ext>
                  </a:extLst>
                </a:gridCol>
              </a:tblGrid>
              <a:tr h="430716"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chemeClr val="tx1"/>
                          </a:solidFill>
                        </a:rPr>
                        <a:t>Metric</a:t>
                      </a:r>
                      <a:endParaRPr lang="zh-CN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555779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Latency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9 cycles (90 ns)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773423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Interval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10 cycles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622408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Slack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2400" dirty="0"/>
                        <a:t>3.02 ns</a:t>
                      </a: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233528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LUT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185 (2%)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3686218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FF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2400" dirty="0"/>
                        <a:t>109 (~0%)</a:t>
                      </a: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9494690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DSP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0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144632"/>
                  </a:ext>
                </a:extLst>
              </a:tr>
              <a:tr h="590093"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BRAM</a:t>
                      </a:r>
                      <a:endParaRPr lang="zh-CN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/>
                        <a:t>0</a:t>
                      </a:r>
                      <a:endParaRPr lang="zh-CN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8235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226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4AC63-8735-55A7-63DC-824A2BD21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402" y="39875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6000" b="1" dirty="0">
                <a:latin typeface="+mn-lt"/>
              </a:rPr>
              <a:t>RTL Analysis</a:t>
            </a:r>
            <a:endParaRPr lang="zh-CN" altLang="en-US" sz="6000" b="1" dirty="0">
              <a:latin typeface="+mn-lt"/>
            </a:endParaRPr>
          </a:p>
        </p:txBody>
      </p:sp>
      <p:pic>
        <p:nvPicPr>
          <p:cNvPr id="7" name="内容占位符 6">
            <a:extLst>
              <a:ext uri="{FF2B5EF4-FFF2-40B4-BE49-F238E27FC236}">
                <a16:creationId xmlns:a16="http://schemas.microsoft.com/office/drawing/2014/main" id="{B147B9F6-BE3F-9539-E1A1-DEC05CFE7D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5932"/>
          <a:stretch/>
        </p:blipFill>
        <p:spPr>
          <a:xfrm>
            <a:off x="417402" y="2016184"/>
            <a:ext cx="3480671" cy="2951626"/>
          </a:xfrm>
          <a:prstGeom prst="rect">
            <a:avLst/>
          </a:prstGeom>
        </p:spPr>
      </p:pic>
      <p:sp>
        <p:nvSpPr>
          <p:cNvPr id="8" name="矩形: 圆角 7">
            <a:extLst>
              <a:ext uri="{FF2B5EF4-FFF2-40B4-BE49-F238E27FC236}">
                <a16:creationId xmlns:a16="http://schemas.microsoft.com/office/drawing/2014/main" id="{9C3B68B4-4D79-CD7B-3F55-07FC5C1C9C9D}"/>
              </a:ext>
            </a:extLst>
          </p:cNvPr>
          <p:cNvSpPr/>
          <p:nvPr/>
        </p:nvSpPr>
        <p:spPr>
          <a:xfrm>
            <a:off x="3824550" y="1550887"/>
            <a:ext cx="3144615" cy="5326912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8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 err="1">
                <a:solidFill>
                  <a:schemeClr val="tx1"/>
                </a:solidFill>
                <a:latin typeface="+mn-ea"/>
              </a:rPr>
              <a:t>ap_start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zh-CN" sz="2400" dirty="0">
                <a:solidFill>
                  <a:schemeClr val="tx1"/>
                </a:solidFill>
                <a:latin typeface="+mn-ea"/>
              </a:rPr>
              <a:t>trigger one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 err="1">
                <a:solidFill>
                  <a:schemeClr val="tx1"/>
                </a:solidFill>
                <a:latin typeface="+mn-ea"/>
              </a:rPr>
              <a:t>ap_done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zh-CN" sz="2400" dirty="0">
                <a:solidFill>
                  <a:schemeClr val="tx1"/>
                </a:solidFill>
                <a:latin typeface="+mn-ea"/>
              </a:rPr>
              <a:t>asserts when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 err="1">
                <a:solidFill>
                  <a:schemeClr val="tx1"/>
                </a:solidFill>
                <a:latin typeface="+mn-ea"/>
              </a:rPr>
              <a:t>ap_idle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zh-CN" sz="2400" dirty="0">
                <a:solidFill>
                  <a:schemeClr val="tx1"/>
                </a:solidFill>
                <a:latin typeface="+mn-ea"/>
              </a:rPr>
              <a:t>high when waiting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 err="1">
                <a:solidFill>
                  <a:schemeClr val="tx1"/>
                </a:solidFill>
                <a:latin typeface="+mn-ea"/>
              </a:rPr>
              <a:t>ap_ready</a:t>
            </a:r>
            <a:r>
              <a:rPr lang="en-US" altLang="zh-CN" sz="2400" b="1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zh-CN" sz="2400" dirty="0">
                <a:solidFill>
                  <a:schemeClr val="tx1"/>
                </a:solidFill>
                <a:latin typeface="+mn-ea"/>
              </a:rPr>
              <a:t>indicates readiness for next</a:t>
            </a:r>
            <a:endParaRPr lang="zh-CN" altLang="en-US" sz="2400" dirty="0">
              <a:latin typeface="+mn-ea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0FD42DC-91A2-70CD-C4E1-440A45901ECD}"/>
              </a:ext>
            </a:extLst>
          </p:cNvPr>
          <p:cNvSpPr/>
          <p:nvPr/>
        </p:nvSpPr>
        <p:spPr>
          <a:xfrm>
            <a:off x="3495527" y="1257787"/>
            <a:ext cx="4359349" cy="2218587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tx1"/>
                </a:solidFill>
              </a:rPr>
              <a:t>Control Path</a:t>
            </a:r>
            <a:r>
              <a:rPr lang="zh-CN" altLang="en-US" sz="3600" b="1" dirty="0">
                <a:solidFill>
                  <a:schemeClr val="tx1"/>
                </a:solidFill>
              </a:rPr>
              <a:t>：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FAE8108-5C13-2288-0C21-962DF706E9C0}"/>
              </a:ext>
            </a:extLst>
          </p:cNvPr>
          <p:cNvSpPr/>
          <p:nvPr/>
        </p:nvSpPr>
        <p:spPr>
          <a:xfrm>
            <a:off x="382048" y="5251130"/>
            <a:ext cx="3480671" cy="7291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b="1" dirty="0"/>
              <a:t>2 Small State Machine </a:t>
            </a:r>
            <a:endParaRPr lang="zh-CN" altLang="en-US" sz="2200" b="1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04003EBC-81B2-7D8F-B87D-7283AD6C6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452" y="1975501"/>
            <a:ext cx="3283550" cy="2283094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22F4EF9-0607-F5CD-3C6A-749E58A2FCF5}"/>
              </a:ext>
            </a:extLst>
          </p:cNvPr>
          <p:cNvSpPr/>
          <p:nvPr/>
        </p:nvSpPr>
        <p:spPr>
          <a:xfrm>
            <a:off x="6783399" y="3734433"/>
            <a:ext cx="5428623" cy="2466754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 err="1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setlt</a:t>
            </a:r>
            <a:r>
              <a:rPr lang="en-US" altLang="zh-CN" sz="2400" dirty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→ comparator (max &lt; 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select</a:t>
            </a:r>
            <a:r>
              <a:rPr lang="en-US" altLang="zh-CN" sz="2400" b="1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→ mux (choose larger value)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add</a:t>
            </a:r>
            <a:r>
              <a:rPr lang="en-US" altLang="zh-CN" sz="2400" dirty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→ loop counter increment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AB6F7A-DA29-E22D-BA21-6C7EFBAE0DBC}"/>
              </a:ext>
            </a:extLst>
          </p:cNvPr>
          <p:cNvSpPr/>
          <p:nvPr/>
        </p:nvSpPr>
        <p:spPr>
          <a:xfrm>
            <a:off x="7154932" y="5629262"/>
            <a:ext cx="4775292" cy="8299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b="1" dirty="0"/>
              <a:t>1 Comparator  1 Mux  1 Adder</a:t>
            </a:r>
            <a:endParaRPr lang="zh-CN" alt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322813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A43844-6027-4027-6146-98EF4303D8F6}"/>
              </a:ext>
            </a:extLst>
          </p:cNvPr>
          <p:cNvSpPr/>
          <p:nvPr/>
        </p:nvSpPr>
        <p:spPr>
          <a:xfrm>
            <a:off x="209762" y="-562244"/>
            <a:ext cx="9631792" cy="270067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600" b="1" dirty="0">
                <a:solidFill>
                  <a:schemeClr val="tx1"/>
                </a:solidFill>
              </a:rPr>
              <a:t>Sequential Compare-and-Update Logic</a:t>
            </a:r>
            <a:r>
              <a:rPr lang="zh-CN" altLang="en-US" sz="3600" b="1" dirty="0">
                <a:solidFill>
                  <a:schemeClr val="tx1"/>
                </a:solidFill>
              </a:rPr>
              <a:t>：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07C4918-F994-1D98-82C5-E780AA06D027}"/>
              </a:ext>
            </a:extLst>
          </p:cNvPr>
          <p:cNvSpPr/>
          <p:nvPr/>
        </p:nvSpPr>
        <p:spPr>
          <a:xfrm>
            <a:off x="57853" y="4697401"/>
            <a:ext cx="4306186" cy="244928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tx1"/>
                </a:solidFill>
              </a:rPr>
              <a:t>Single comparator reused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tx1"/>
                </a:solidFill>
              </a:rPr>
              <a:t>Mux-based value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tx1"/>
                </a:solidFill>
              </a:rPr>
              <a:t>Max stored in 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>
                <a:solidFill>
                  <a:schemeClr val="tx1"/>
                </a:solidFill>
              </a:rPr>
              <a:t>Loop controlled by scheduler</a:t>
            </a:r>
          </a:p>
          <a:p>
            <a:pPr algn="ctr"/>
            <a:endParaRPr lang="en-US" altLang="zh-CN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859806-BC30-6ED4-84B5-896E44D450E2}"/>
              </a:ext>
            </a:extLst>
          </p:cNvPr>
          <p:cNvSpPr/>
          <p:nvPr/>
        </p:nvSpPr>
        <p:spPr>
          <a:xfrm>
            <a:off x="0" y="1526194"/>
            <a:ext cx="3742660" cy="925032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tx1"/>
                </a:solidFill>
              </a:rPr>
              <a:t>Normal Version:</a:t>
            </a:r>
            <a:endParaRPr lang="zh-CN" altLang="en-US" sz="2800" b="1" dirty="0">
              <a:solidFill>
                <a:schemeClr val="tx1"/>
              </a:solidFill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E25F806-EC69-B32A-127D-38034A7968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953"/>
          <a:stretch/>
        </p:blipFill>
        <p:spPr>
          <a:xfrm>
            <a:off x="4803690" y="2417197"/>
            <a:ext cx="7120181" cy="2023605"/>
          </a:xfrm>
          <a:prstGeom prst="rect">
            <a:avLst/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E1C49E08-367B-B2A1-872C-CE64B393ED4E}"/>
              </a:ext>
            </a:extLst>
          </p:cNvPr>
          <p:cNvSpPr/>
          <p:nvPr/>
        </p:nvSpPr>
        <p:spPr>
          <a:xfrm>
            <a:off x="4645797" y="1304806"/>
            <a:ext cx="6039293" cy="136780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800" b="1" dirty="0">
                <a:solidFill>
                  <a:srgbClr val="00206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“#pragma </a:t>
            </a:r>
            <a:r>
              <a:rPr lang="en-US" altLang="zh-CN" sz="2800" b="1" dirty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HLS UNROLL” </a:t>
            </a:r>
            <a:r>
              <a:rPr lang="en-US" altLang="zh-CN" sz="2800" b="1" dirty="0">
                <a:solidFill>
                  <a:schemeClr val="tx1"/>
                </a:solidFill>
                <a:ea typeface="Malgun Gothic" panose="020B0503020000020004" pitchFamily="34" charset="-127"/>
              </a:rPr>
              <a:t>Version: </a:t>
            </a:r>
            <a:r>
              <a:rPr lang="en-US" altLang="zh-CN" sz="2000" dirty="0">
                <a:solidFill>
                  <a:schemeClr val="tx1"/>
                </a:solidFill>
                <a:ea typeface="Malgun Gothic" panose="020B0503020000020004" pitchFamily="34" charset="-127"/>
              </a:rPr>
              <a:t>(AI Recommend) </a:t>
            </a:r>
            <a:r>
              <a:rPr lang="en-US" altLang="zh-CN" sz="2000" b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</a:t>
            </a:r>
            <a:endParaRPr lang="zh-CN" altLang="en-US" sz="20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783C23-3619-9DF6-DC5A-F812AF274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613" y="2417197"/>
            <a:ext cx="3676839" cy="2254366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CC8BAEE-1880-1077-541B-623A78B0A9FA}"/>
              </a:ext>
            </a:extLst>
          </p:cNvPr>
          <p:cNvSpPr/>
          <p:nvPr/>
        </p:nvSpPr>
        <p:spPr>
          <a:xfrm>
            <a:off x="5025658" y="4697401"/>
            <a:ext cx="5720316" cy="153108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2400" dirty="0">
              <a:solidFill>
                <a:schemeClr val="tx1"/>
              </a:solidFill>
            </a:endParaRPr>
          </a:p>
        </p:txBody>
      </p:sp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3491449B-80CE-4B3A-969B-C5FA0C5F685A}"/>
              </a:ext>
            </a:extLst>
          </p:cNvPr>
          <p:cNvSpPr/>
          <p:nvPr/>
        </p:nvSpPr>
        <p:spPr>
          <a:xfrm>
            <a:off x="4038517" y="3313619"/>
            <a:ext cx="651044" cy="315406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BDA8FC-4F71-490A-AA0D-C20D096ED2D8}"/>
              </a:ext>
            </a:extLst>
          </p:cNvPr>
          <p:cNvSpPr/>
          <p:nvPr/>
        </p:nvSpPr>
        <p:spPr>
          <a:xfrm>
            <a:off x="4803690" y="4860679"/>
            <a:ext cx="7120181" cy="13678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The absence of unrolling results in a time-multiplexed </a:t>
            </a:r>
            <a:r>
              <a:rPr lang="en-US" altLang="zh-CN" sz="2400" b="1" dirty="0" err="1">
                <a:solidFill>
                  <a:schemeClr val="bg1"/>
                </a:solidFill>
              </a:rPr>
              <a:t>datapath</a:t>
            </a:r>
            <a:r>
              <a:rPr lang="en-US" altLang="zh-CN" sz="2400" b="1" dirty="0">
                <a:solidFill>
                  <a:schemeClr val="bg1"/>
                </a:solidFill>
              </a:rPr>
              <a:t> rather than a spatially expanded comparator network.</a:t>
            </a: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4720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192</Words>
  <Application>Microsoft Office PowerPoint</Application>
  <PresentationFormat>Widescreen</PresentationFormat>
  <Paragraphs>49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等线</vt:lpstr>
      <vt:lpstr>等线 Light</vt:lpstr>
      <vt:lpstr>Malgun Gothic</vt:lpstr>
      <vt:lpstr>Arial</vt:lpstr>
      <vt:lpstr>Office 主题​​</vt:lpstr>
      <vt:lpstr>From Dafny to RTL</vt:lpstr>
      <vt:lpstr>Abstraction to Hardware</vt:lpstr>
      <vt:lpstr>HLS Synthesis Results</vt:lpstr>
      <vt:lpstr>RTL Analysis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Dafny to RTL</dc:title>
  <dc:creator>jici li</dc:creator>
  <cp:lastModifiedBy>Jici</cp:lastModifiedBy>
  <cp:revision>9</cp:revision>
  <dcterms:created xsi:type="dcterms:W3CDTF">2026-03-01T18:31:20Z</dcterms:created>
  <dcterms:modified xsi:type="dcterms:W3CDTF">2026-03-02T11:09:15Z</dcterms:modified>
</cp:coreProperties>
</file>